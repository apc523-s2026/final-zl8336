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1D</a:t>
            </a:r>
            <a:r>
              <a:rPr/>
              <a:t> </a:t>
            </a:r>
            <a:r>
              <a:rPr/>
              <a:t>Helmholtz</a:t>
            </a:r>
            <a:r>
              <a:rPr/>
              <a:t> </a:t>
            </a:r>
            <a:r>
              <a:rPr/>
              <a:t>EM</a:t>
            </a:r>
            <a:r>
              <a:rPr/>
              <a:t> </a:t>
            </a:r>
            <a:r>
              <a:rPr/>
              <a:t>Solver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Design,</a:t>
            </a:r>
            <a:r>
              <a:rPr/>
              <a:t> </a:t>
            </a:r>
            <a:r>
              <a:rPr/>
              <a:t>Validation,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Applications</a:t>
            </a:r>
            <a:br/>
            <a:br/>
            <a:r>
              <a:rPr/>
              <a:t>APC</a:t>
            </a:r>
            <a:r>
              <a:rPr/>
              <a:t> </a:t>
            </a:r>
            <a:r>
              <a:rPr/>
              <a:t>523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Project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Problem Overview </a:t>
                </a:r>
                <a:r>
                  <a:rPr b="1"/>
                  <a:t>Goal:</a:t>
                </a:r>
                <a:r>
                  <a:rPr/>
                  <a:t> solve 1D Helmholtz equation for monochromatic EM scattering at a dielectric transition layer.</a:t>
                </a:r>
              </a:p>
              <a:p>
                <a:pPr lvl="0" marL="0" indent="0">
                  <a:buNone/>
                </a:pPr>
                <a:r>
                  <a:rPr b="1"/>
                  <a:t>Domain</a:t>
                </a:r>
                <a:br/>
              </a:p>
              <a:p>
                <a:pPr lvl="0" marL="0" indent="0">
                  <a:buNone/>
                </a:pPr>
                <a:r>
                  <a:rPr b="1"/>
                  <a:t>Sign convention: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j</m:t>
                        </m:r>
                        <m:r>
                          <m:t>ω</m:t>
                        </m:r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; right-going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∝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j</m:t>
                        </m:r>
                        <m:sSub>
                          <m:e>
                            <m:r>
                              <m:t>k</m:t>
                            </m:r>
                          </m:e>
                          <m:sub>
                            <m:r>
                              <m:t>z</m:t>
                            </m:r>
                          </m:sub>
                        </m:sSub>
                        <m:r>
                          <m:t>z</m:t>
                        </m:r>
                      </m:sup>
                    </m:sSup>
                  </m:oMath>
                </a14:m>
                <a:br/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k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ad>
                      <m:radPr>
                        <m:degHide m:val="1"/>
                      </m:radPr>
                      <m:deg/>
                      <m:e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m:t>sin</m:t>
                    </m:r>
                    <m:r>
                      <m:t>θ</m:t>
                    </m:r>
                  </m:oMath>
                </a14:m>
                <a:r>
                  <a:rPr/>
                  <a:t> (conserved)</a:t>
                </a:r>
              </a:p>
              <a:p>
                <a:pPr lvl="0" marL="0" indent="0">
                  <a:buNone/>
                </a:pPr>
                <a:r>
                  <a:rPr b="1"/>
                  <a:t>TE (S):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d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num>
                        <m:den>
                          <m:r>
                            <m:t>d</m:t>
                          </m:r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[</m:t>
                      </m:r>
                      <m:sSubSup>
                        <m:e>
                          <m:r>
                            <m:t>k</m:t>
                          </m:r>
                        </m:e>
                        <m:sub>
                          <m:r>
                            <m:t>0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z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sSubSup>
                        <m:e>
                          <m:r>
                            <m:t>k</m:t>
                          </m:r>
                        </m:e>
                        <m:sub>
                          <m:r>
                            <m:t>x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]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 b="1"/>
                  <a:t>TM (P):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d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num>
                        <m:den>
                          <m:r>
                            <m:t>d</m:t>
                          </m:r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m:t>ε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</m:den>
                      </m:f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sSub>
                            <m:e>
                              <m:r>
                                <m:t>ε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</m:num>
                        <m:den>
                          <m:r>
                            <m:t>d</m:t>
                          </m:r>
                          <m:r>
                            <m:t>z</m:t>
                          </m:r>
                        </m:den>
                      </m:f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num>
                        <m:den>
                          <m:r>
                            <m:t>d</m:t>
                          </m:r>
                          <m:r>
                            <m:t>z</m:t>
                          </m:r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[</m:t>
                      </m:r>
                      <m:sSubSup>
                        <m:e>
                          <m:r>
                            <m:t>k</m:t>
                          </m:r>
                        </m:e>
                        <m:sub>
                          <m:r>
                            <m:t>0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z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sSubSup>
                        <m:e>
                          <m:r>
                            <m:t>k</m:t>
                          </m:r>
                        </m:e>
                        <m:sub>
                          <m:r>
                            <m:t>x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]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Two Independent Numerical Methods</a:t>
                </a:r>
              </a:p>
              <a:p>
                <a:pPr lvl="0" marL="0" indent="0">
                  <a:buNone/>
                </a:pPr>
                <a:r>
                  <a:rPr b="1"/>
                  <a:t>ODE solvers available:</a:t>
                </a:r>
              </a:p>
              <a:p>
                <a:pPr lvl="0" marL="0" indent="0">
                  <a:buNone/>
                </a:pPr>
                <a:r>
                  <a:rPr/>
                  <a:t>image Butcher tableaux for explicit RK solvers.</a:t>
                </a:r>
              </a:p>
              <a:p>
                <a:pPr lvl="0" marL="0" indent="0">
                  <a:buNone/>
                </a:pPr>
                <a:r>
                  <a:rPr b="1"/>
                  <a:t>Default resolution:</a:t>
                </a:r>
                <a:r>
                  <a:rPr/>
                  <a:t> 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50</m:t>
                    </m:r>
                    <m:r>
                      <m:rPr>
                        <m:sty m:val="p"/>
                      </m:rPr>
                      <m:t>×</m:t>
                    </m:r>
                    <m:r>
                      <m:rPr>
                        <m:sty m:val="p"/>
                      </m:rPr>
                      <m:t>max</m:t>
                    </m:r>
                    <m:rad>
                      <m:radPr>
                        <m:degHide m:val="1"/>
                      </m:radPr>
                      <m:deg/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ε</m:t>
                                </m:r>
                              </m:e>
                              <m:sub>
                                <m:r>
                                  <m:t>r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r>
                  <a:rPr/>
                  <a:t> cells/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; FEM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100</m:t>
                    </m:r>
                    <m:r>
                      <m:rPr>
                        <m:sty m:val="p"/>
                      </m:rPr>
                      <m:t>×</m:t>
                    </m:r>
                    <m:r>
                      <m:rPr>
                        <m:sty m:val="p"/>
                      </m:rPr>
                      <m:t>max</m:t>
                    </m:r>
                    <m:rad>
                      <m:radPr>
                        <m:degHide m:val="1"/>
                      </m:radPr>
                      <m:deg/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ε</m:t>
                                </m:r>
                              </m:e>
                              <m:sub>
                                <m:r>
                                  <m:t>r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r>
                  <a:rPr/>
                  <a:t>; exterior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res_trans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Basic Usage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from main import HelmholtzSolver1D</a:t>
                </a:r>
                <a:br/>
                <a:r>
                  <a:rPr>
                    <a:latin typeface="Courier"/>
                  </a:rPr>
                  <a:t>import numpy as np</a:t>
                </a:r>
                <a:br/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eps_tanh(z, eps1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, eps2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4.0</a:t>
                </a:r>
                <a:r>
                  <a:rPr>
                    <a:latin typeface="Courier"/>
                  </a:rPr>
                  <a:t>, zc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0.0</a:t>
                </a:r>
                <a:r>
                  <a:rPr>
                    <a:latin typeface="Courier"/>
                  </a:rPr>
                  <a:t>, delta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0.33</a:t>
                </a:r>
                <a:r>
                  <a:rPr>
                    <a:latin typeface="Courier"/>
                  </a:rPr>
                  <a:t>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(eps1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eps2)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(eps2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eps1)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np.tanh((z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zc)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delta)</a:t>
                </a:r>
                <a:br/>
                <a:br/>
                <a:r>
                  <a:rPr>
                    <a:latin typeface="Courier"/>
                  </a:rPr>
                  <a:t>solver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HelmholtzSolver1D(eps_tanh, z1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=-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, z2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=+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,</a:t>
                </a:r>
                <a:br/>
                <a:r>
                  <a:rPr>
                    <a:latin typeface="Courier"/>
                  </a:rPr>
                  <a:t>                           theta_deg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45.0</a:t>
                </a:r>
                <a:r>
                  <a:rPr>
                    <a:latin typeface="Courier"/>
                  </a:rPr>
                  <a:t>, pol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'S'</a:t>
                </a:r>
                <a:r>
                  <a:rPr>
                    <a:latin typeface="Courier"/>
                  </a:rPr>
                  <a:t>, lambda0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result_ode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solver.solve_ode()</a:t>
                </a:r>
                <a:br/>
                <a:r>
                  <a:rPr>
                    <a:latin typeface="Courier"/>
                  </a:rPr>
                  <a:t>result_fem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solver.solve_fem(res_trans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200</a:t>
                </a:r>
                <a:r>
                  <a:rPr>
                    <a:latin typeface="Courier"/>
                  </a:rPr>
                  <a:t>, res_ext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100</a:t>
                </a:r>
                <a:r>
                  <a:rPr>
                    <a:latin typeface="Courier"/>
                  </a:rPr>
                  <a:t>, order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solver.energy_check(result_ode[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'r'</a:t>
                </a:r>
                <a:r>
                  <a:rPr>
                    <a:latin typeface="Courier"/>
                  </a:rPr>
                  <a:t>], result_ode[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't'</a:t>
                </a:r>
                <a:r>
                  <a:rPr>
                    <a:latin typeface="Courier"/>
                  </a:rPr>
                  <a:t>])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R+T should be ~1</a:t>
                </a:r>
                <a:br/>
                <a:r>
                  <a:rPr>
                    <a:latin typeface="Courier"/>
                  </a:rPr>
                  <a:t>solver.plot_field(result_ode)</a:t>
                </a:r>
              </a:p>
              <a:p>
                <a:pPr lvl="0" marL="0" indent="0">
                  <a:buNone/>
                </a:pPr>
                <a:r>
                  <a:rPr/>
                  <a:t>image image</a:t>
                </a:r>
              </a:p>
              <a:p>
                <a:pPr lvl="0" marL="0" indent="0">
                  <a:buNone/>
                </a:pPr>
                <a:r>
                  <a:rPr/>
                  <a:t>Correctness: Airy Analytical Benchmark </a:t>
                </a:r>
                <a:r>
                  <a:rPr b="1"/>
                  <a:t>V-shaped profile</a:t>
                </a:r>
                <a:r>
                  <a:rPr/>
                  <a:t> (piecewise-linear):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z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ε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e>
                      </m:d>
                      <m:r>
                        <m:t> 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r>
                            <m:t>z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δ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r>
                            <m:t>z</m:t>
                          </m:r>
                        </m:e>
                      </m:d>
                      <m:r>
                        <m:rPr>
                          <m:sty m:val="p"/>
                        </m:rPr>
                        <m:t>≤</m:t>
                      </m:r>
                      <m:r>
                        <m:t>δ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  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r>
                            <m:t>z</m:t>
                          </m:r>
                        </m:e>
                      </m:d>
                      <m:r>
                        <m:rPr>
                          <m:sty m:val="p"/>
                        </m:rPr>
                        <m:t>&gt;</m:t>
                      </m:r>
                      <m:r>
                        <m:t>δ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TE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Airy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exact closed-form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i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ξ</m:t>
                        </m:r>
                      </m:e>
                    </m:d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B</m:t>
                    </m:r>
                    <m:r>
                      <m:rPr>
                        <m:sty m:val="p"/>
                      </m:rPr>
                      <m:t>i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ξ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Two test cases (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: dielectric, no turning points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</m:oMath>
                </a14:m>
                <a:r>
                  <a:rPr/>
                  <a:t>: metallic core, turning points 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r>
                          <m:t>z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t>δ</m:t>
                    </m:r>
                    <m:r>
                      <m:rPr>
                        <m:sty m:val="p"/>
                      </m:rPr>
                      <m:t>/</m:t>
                    </m:r>
                    <m:r>
                      <m:t>4</m:t>
                    </m:r>
                  </m:oMath>
                </a14:m>
              </a:p>
              <a:p>
                <a:pPr lvl="0" marL="0" indent="0">
                  <a:buNone/>
                </a:pPr>
                <a:r>
                  <a:rPr/>
                  <a:t>image</a:t>
                </a:r>
                <a:br/>
                <a:r>
                  <a:rPr/>
                  <a:t>V-shaped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z</m:t>
                        </m:r>
                      </m:e>
                    </m:d>
                  </m:oMath>
                </a14:m>
                <a:r>
                  <a:rPr/>
                  <a:t> profiles for both test cases.</a:t>
                </a:r>
              </a:p>
              <a:p>
                <a:pPr lvl="0" marL="0" indent="0">
                  <a:buNone/>
                </a:pPr>
                <a:r>
                  <a:rPr/>
                  <a:t>Correctness: Convergence Results (</a:t>
                </a:r>
                <a14:m>
                  <m:oMath xmlns:m="http://schemas.openxmlformats.org/officeDocument/2006/math">
                    <m:r>
                      <m:t>θ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45</m:t>
                    </m:r>
                    <m:r>
                      <m:rPr>
                        <m:sty m:val="p"/>
                      </m:rPr>
                      <m:t>°</m:t>
                    </m:r>
                  </m:oMath>
                </a14:m>
                <a:r>
                  <a:rPr/>
                  <a:t>, TE)</a:t>
                </a:r>
              </a:p>
              <a:p>
                <a:pPr lvl="0" marL="0" indent="0">
                  <a:buNone/>
                </a:pPr>
                <a:r>
                  <a:rPr/>
                  <a:t>image</a:t>
                </a:r>
                <a:br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m:t>num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m:t>Airy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vs step size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. image</a:t>
                </a:r>
                <a:br/>
                <a:r>
                  <a:rPr/>
                  <a:t>Field </a:t>
                </a:r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error vs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 b="1"/>
                  <a:t> error:</a:t>
                </a:r>
                <a:r>
                  <a:rPr/>
                  <a:t> SemiImplEuler slope 1; Heun/FEM P1/P2 slope 2; Dopri5/Tsit5 slope 4 then flattens; KenCarp4 flat (IMEX splitting error).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 error:</a:t>
                </a:r>
                <a:r>
                  <a:rPr/>
                  <a:t> all methods except SemiImplEuler converge at slope 2 (limited by 2nd-order quadrature of the norm).</a:t>
                </a:r>
              </a:p>
              <a:p>
                <a:pPr lvl="1"/>
                <a:r>
                  <a:rPr b="1"/>
                  <a:t>Absolute accuracy:</a:t>
                </a:r>
                <a:r>
                  <a:rPr/>
                  <a:t> FEM P2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more accurate than P1 at the same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; ODE methods match FEM P2 at far coarser resolution. FEM P2 at fine mesh demands tens of GB — ODE is preferred for high accuracy.</a:t>
                </a:r>
              </a:p>
              <a:p>
                <a:pPr lvl="1"/>
                <a:r>
                  <a:rPr/>
                  <a:t>At default ODE resolution (</a:t>
                </a:r>
                <a14:m>
                  <m:oMath xmlns:m="http://schemas.openxmlformats.org/officeDocument/2006/math">
                    <m:r>
                      <m:t>50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m:t>≈</m:t>
                    </m:r>
                    <m:r>
                      <m:t>112</m:t>
                    </m:r>
                  </m:oMath>
                </a14:m>
                <a:r>
                  <a:rPr/>
                  <a:t> cells/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):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m:t>num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rPr>
                                <m:nor/>
                                <m:sty m:val="p"/>
                              </m:rPr>
                              <m:t>Airy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&lt;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Stability Near a Dielectric Zero-Crossing </a:t>
                </a:r>
                <a:r>
                  <a:rPr b="1"/>
                  <a:t>Setup: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θ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45</m:t>
                    </m:r>
                    <m:r>
                      <m:rPr>
                        <m:sty m:val="p"/>
                      </m:rPr>
                      <m:t>°</m:t>
                    </m:r>
                  </m:oMath>
                </a14:m>
                <a:r>
                  <a:rPr/>
                  <a:t>, resolution swept 4–512 cells/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.</a:t>
                </a:r>
                <a:br/>
                <a:r>
                  <a:rPr b="1"/>
                  <a:t>TE:</a:t>
                </a:r>
                <a:r>
                  <a:rPr/>
                  <a:t> classical turning point (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exactly from Airy).</a:t>
                </a:r>
                <a:br/>
                <a:r>
                  <a:rPr b="1"/>
                  <a:t>TM:</a:t>
                </a:r>
                <a:r>
                  <a:rPr/>
                  <a:t>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d</m:t>
                        </m:r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/</m:t>
                        </m:r>
                        <m:r>
                          <m:t>d</m:t>
                        </m:r>
                        <m:r>
                          <m:t>z</m:t>
                        </m:r>
                      </m:e>
                    </m:d>
                  </m:oMath>
                </a14:m>
                <a:r>
                  <a:rPr/>
                  <a:t> diverges at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regularise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→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j</m:t>
                    </m:r>
                    <m:r>
                      <m:t>η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4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image</a:t>
                </a:r>
                <a:br/>
                <a:r>
                  <a:rPr/>
                  <a:t>Energy residual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r>
                          <m:t>R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vs resolution. Left: TE. Right: TM with 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t>η</m:t>
                    </m:r>
                  </m:oMath>
                </a14:m>
                <a:r>
                  <a:rPr/>
                  <a:t> regularisation.</a:t>
                </a:r>
              </a:p>
              <a:p>
                <a:pPr lvl="1"/>
                <a:r>
                  <a:rPr b="1"/>
                  <a:t>TE:</a:t>
                </a:r>
                <a:r>
                  <a:rPr/>
                  <a:t> all methods maintain energy conservation to floating-point limits. ODE methods reach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r>
                          <m:t>R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≲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14</m:t>
                        </m:r>
                      </m:sup>
                    </m:sSup>
                  </m:oMath>
                </a14:m>
                <a:r>
                  <a:rPr/>
                  <a:t>. FEM residual decreases with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; P2 outperforms P1.</a:t>
                </a:r>
              </a:p>
              <a:p>
                <a:pPr lvl="1"/>
                <a:r>
                  <a:rPr b="1"/>
                  <a:t>TM:</a:t>
                </a:r>
                <a:r>
                  <a:rPr/>
                  <a:t> high-order fixed-step ODE (Dopri5, Tsit5, Heun) are stable but stall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 (set by </a:t>
                </a:r>
                <a14:m>
                  <m:oMath xmlns:m="http://schemas.openxmlformats.org/officeDocument/2006/math">
                    <m:r>
                      <m:t>η</m:t>
                    </m:r>
                  </m:oMath>
                </a14:m>
                <a:r>
                  <a:rPr/>
                  <a:t>). KenCarp4 residual is flat near </a:t>
                </a:r>
                <a14:m>
                  <m:oMath xmlns:m="http://schemas.openxmlformats.org/officeDocument/2006/math">
                    <m:r>
                      <m:t>0.5</m:t>
                    </m:r>
                  </m:oMath>
                </a14:m>
                <a:r>
                  <a:rPr/>
                  <a:t> independent of resolution.</a:t>
                </a:r>
              </a:p>
              <a:p>
                <a:pPr lvl="1"/>
                <a:r>
                  <a:rPr/>
                  <a:t>All TM methods become </a:t>
                </a:r>
                <a:r>
                  <a:rPr i="1"/>
                  <a:t>more</a:t>
                </a:r>
                <a:r>
                  <a:rPr/>
                  <a:t> unstable as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 decreases. FEM P2 is worst: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r>
                          <m:t>R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&gt;</m:t>
                    </m:r>
                    <m:r>
                      <m:t>1</m:t>
                    </m:r>
                  </m:oMath>
                </a14:m>
                <a:r>
                  <a:rPr/>
                  <a:t> once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&lt;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sup>
                    </m:sSup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. Simple 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t>η</m:t>
                    </m:r>
                  </m:oMath>
                </a14:m>
                <a:r>
                  <a:rPr/>
                  <a:t> regularisation is insufficient at fine resolution — alternative formulations (e.g. 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) need investigation.</a:t>
                </a:r>
              </a:p>
              <a:p>
                <a:pPr lvl="0" marL="0" indent="0">
                  <a:buNone/>
                </a:pPr>
                <a:r>
                  <a:rPr/>
                  <a:t>Efficiency: GPU-Parallel Parameter Sweeps Built on </a:t>
                </a:r>
                <a:r>
                  <a:rPr b="1"/>
                  <a:t>JAX</a:t>
                </a:r>
                <a:r>
                  <a:rPr/>
                  <a:t> (64-bit complex); GPU via </a:t>
                </a:r>
                <a:r>
                  <a:rPr>
                    <a:latin typeface="Courier"/>
                  </a:rPr>
                  <a:t>jax_platform_name=’gpu’</a:t>
                </a:r>
                <a:r>
                  <a:rPr/>
                  <a:t>.</a:t>
                </a:r>
                <a:br/>
                <a:r>
                  <a:rPr>
                    <a:latin typeface="Courier"/>
                  </a:rPr>
                  <a:t>sweep_ode</a:t>
                </a:r>
                <a:r>
                  <a:rPr/>
                  <a:t>/</a:t>
                </a:r>
                <a:r>
                  <a:rPr>
                    <a:latin typeface="Courier"/>
                  </a:rPr>
                  <a:t>sweep_fem</a:t>
                </a:r>
                <a:r>
                  <a:rPr/>
                  <a:t>: vectorise over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array with </a:t>
                </a:r>
                <a:r>
                  <a:rPr>
                    <a:latin typeface="Courier"/>
                  </a:rPr>
                  <a:t>jax.vmap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single GPU kernel. </a:t>
                </a:r>
                <a:r>
                  <a:rPr b="1"/>
                  <a:t>10–50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 b="1"/>
                  <a:t> speedup</a:t>
                </a:r>
                <a:r>
                  <a:rPr/>
                  <a:t> vs Python loop.</a:t>
                </a:r>
              </a:p>
              <a:p>
                <a:pPr lvl="0" marL="0" indent="0">
                  <a:buNone/>
                </a:pPr>
                <a:r>
                  <a:rPr b="1"/>
                  <a:t>Example: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R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θ</m:t>
                        </m:r>
                      </m:e>
                    </m:d>
                  </m:oMath>
                </a14:m>
                <a:r>
                  <a:rPr/>
                  <a:t> for tanh transition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z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+</m:t>
                        </m:r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tanh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z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δ</m:t>
                        </m:r>
                      </m:e>
                    </m:d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swept over 8 values </a:t>
                </a:r>
                <a14:m>
                  <m:oMath xmlns:m="http://schemas.openxmlformats.org/officeDocument/2006/math">
                    <m:r>
                      <m:t>0.01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–</a:t>
                </a:r>
                <a14:m>
                  <m:oMath xmlns:m="http://schemas.openxmlformats.org/officeDocument/2006/math">
                    <m:r>
                      <m:t>2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image</a:t>
                </a:r>
                <a:br/>
                <a:r>
                  <a:rPr/>
                  <a:t>Reflectance </a:t>
                </a:r>
                <a14:m>
                  <m:oMath xmlns:m="http://schemas.openxmlformats.org/officeDocument/2006/math">
                    <m:r>
                      <m:t>R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θ</m:t>
                        </m:r>
                      </m:e>
                    </m:d>
                  </m:oMath>
                </a14:m>
                <a:r>
                  <a:rPr/>
                  <a:t> for TE (left) and TM (right), coloured by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. Black dashed: sharp-interface Fresnel limit.</a:t>
                </a:r>
              </a:p>
              <a:p>
                <a:pPr lvl="1"/>
                <a:r>
                  <a:rPr/>
                  <a:t>TE: reflectance suppressed monotonically as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increases.</a:t>
                </a:r>
              </a:p>
              <a:p>
                <a:pPr lvl="1"/>
                <a:r>
                  <a:rPr/>
                  <a:t>TM: Brewster angle </a:t>
                </a:r>
                <a14:m>
                  <m:oMath xmlns:m="http://schemas.openxmlformats.org/officeDocument/2006/math">
                    <m:sSub>
                      <m:e>
                        <m:r>
                          <m:t>θ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63.4</m:t>
                    </m:r>
                    <m:r>
                      <m:rPr>
                        <m:sty m:val="p"/>
                      </m:rPr>
                      <m:t>°</m:t>
                    </m:r>
                  </m:oMath>
                </a14:m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</m:t>
                    </m:r>
                  </m:oMath>
                </a14:m>
                <a:r>
                  <a:rPr/>
                  <a:t>) preserved for all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Both polarisations recover the Fresnel limit as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0</m:t>
                    </m:r>
                  </m:oMath>
                </a14:m>
                <a:r>
                  <a:rPr/>
                  <a:t> — independent cross-check that TE and TM are both correctly implemented.</a:t>
                </a:r>
              </a:p>
              <a:p>
                <a:pPr lvl="0" marL="0" indent="0">
                  <a:buNone/>
                </a:pPr>
                <a:r>
                  <a:rPr/>
                  <a:t>Application: Plasma Density Diagnostics</a:t>
                </a:r>
              </a:p>
              <a:p>
                <a:pPr lvl="0" marL="0" indent="0">
                  <a:buNone/>
                </a:pPr>
                <a:r>
                  <a:rPr b="1"/>
                  <a:t>Profile</a:t>
                </a:r>
                <a:r>
                  <a:rPr/>
                  <a:t> (linear ramp into plasma):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z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1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1</m:t>
                                </m:r>
                              </m:e>
                              <m:e>
                                <m: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δ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t>δ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sepChr m:val=""/>
                                    <m:grow/>
                                  </m:dPr>
                                  <m:e>
                                    <m:r>
                                      <m:t>z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≤</m:t>
                                </m:r>
                                <m:r>
                                  <m:t>δ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e>
                              <m:e>
                                <m: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m:t>&gt;</m:t>
                                </m:r>
                                <m:r>
                                  <m:t>δ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 crosses zero at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. Because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t>r</m:t>
                            </m:r>
                          </m:e>
                        </m: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and </a:t>
                </a:r>
                <a:r>
                  <a:rPr b="1"/>
                  <a:t>phase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∠</m:t>
                    </m:r>
                    <m:r>
                      <m:t>r</m:t>
                    </m:r>
                  </m:oMath>
                </a14:m>
                <a:r>
                  <a:rPr/>
                  <a:t> carries all information about the density gradient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image</a:t>
                </a:r>
                <a:br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z</m:t>
                        </m:r>
                      </m:e>
                    </m:d>
                  </m:oMath>
                </a14:m>
                <a:r>
                  <a:rPr/>
                  <a:t> for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image</a:t>
                </a:r>
                <a:br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∠</m:t>
                    </m:r>
                    <m:r>
                      <m:t>r</m:t>
                    </m:r>
                  </m:oMath>
                </a14:m>
                <a:r>
                  <a:rPr/>
                  <a:t> vs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θ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45</m:t>
                    </m:r>
                    <m:r>
                      <m:rPr>
                        <m:sty m:val="p"/>
                      </m:rPr>
                      <m:t>°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ODE (TE) agrees with Airy across full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range.</a:t>
                </a:r>
              </a:p>
              <a:p>
                <a:pPr lvl="1"/>
                <a:r>
                  <a:rPr/>
                  <a:t>FEM result not yet correct for this profile (open issue).</a:t>
                </a:r>
              </a:p>
              <a:p>
                <a:pPr lvl="1"/>
                <a:r>
                  <a:rPr b="1"/>
                  <a:t>Prospect:</a:t>
                </a:r>
                <a:r>
                  <a:rPr/>
                  <a:t> infer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from measured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∠</m:t>
                    </m:r>
                    <m:r>
                      <m:t>r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infer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arg</m:t>
                    </m:r>
                    <m:sSub>
                      <m:e>
                        <m:r>
                          <m:rPr>
                            <m:sty m:val="p"/>
                          </m:rPr>
                          <m:t>min</m:t>
                        </m:r>
                      </m:e>
                      <m:sub>
                        <m:r>
                          <m:t>δ</m:t>
                        </m:r>
                      </m:sub>
                    </m:sSub>
                    <m:sSup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m:t>∠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  <m:sty m:val="p"/>
                                  </m:rPr>
                                  <m:t>meas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∠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  <m:sty m:val="p"/>
                                  </m:rPr>
                                  <m:t>ODE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br/>
                <a:r>
                  <a:rPr/>
                  <a:t>applicable to laser–plasma surface diagnostics.</a:t>
                </a:r>
              </a:p>
              <a:p>
                <a:pPr lvl="0" marL="0" indent="0">
                  <a:buNone/>
                </a:pPr>
                <a:r>
                  <a:rPr/>
                  <a:t>Known Bugs and Fixes </a:t>
                </a:r>
                <a:r>
                  <a:rPr b="1"/>
                  <a:t>Bug 1: Exponential growth for evanescent transmitted wave (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 b="1"/>
                  <a:t>)</a:t>
                </a:r>
              </a:p>
              <a:p>
                <a:pPr lvl="0" marL="0" indent="0">
                  <a:buNone/>
                </a:pPr>
                <a:r>
                  <a:rPr i="1"/>
                  <a:t>Root cause:</a:t>
                </a:r>
                <a:r>
                  <a:rPr/>
                  <a:t> branch cut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I</m:t>
                    </m:r>
                    <m:r>
                      <m:rPr>
                        <m:sty m:val="p"/>
                      </m:rPr>
                      <m:t>m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k</m:t>
                            </m:r>
                          </m:e>
                          <m:sub>
                            <m:r>
                              <m:t>z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≥</m:t>
                    </m:r>
                    <m:r>
                      <m:t>0</m:t>
                    </m:r>
                  </m:oMath>
                </a14:m>
                <a:r>
                  <a:rPr/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z</m:t>
                        </m:r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+</m:t>
                    </m:r>
                    <m:r>
                      <m:t>j</m:t>
                    </m:r>
                    <m:r>
                      <m:t>α</m:t>
                    </m:r>
                  </m:oMath>
                </a14:m>
                <a:r>
                  <a:rPr/>
                  <a:t> for plasma. Naïve ansatz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∝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j</m:t>
                        </m:r>
                        <m:sSub>
                          <m:e>
                            <m:r>
                              <m:t>k</m:t>
                            </m:r>
                          </m:e>
                          <m:sub>
                            <m:r>
                              <m:t>z</m:t>
                            </m:r>
                            <m: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z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z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α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z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z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.</a:t>
                </a:r>
                <a:br/>
                <a:r>
                  <a:rPr i="1"/>
                  <a:t>Fix:</a:t>
                </a:r>
                <a:r>
                  <a:rPr/>
                  <a:t> replace </a:t>
                </a: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z</m:t>
                        </m:r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→</m:t>
                    </m:r>
                    <m:bar>
                      <m:barPr>
                        <m:pos m:val="top"/>
                      </m:barPr>
                      <m:e>
                        <m:sSub>
                          <m:e>
                            <m:r>
                              <m:t>k</m:t>
                            </m:r>
                          </m:e>
                          <m:sub>
                            <m:r>
                              <m:t>z</m:t>
                            </m:r>
                            <m:r>
                              <m:t>2</m:t>
                            </m:r>
                          </m:sub>
                        </m:sSub>
                      </m:e>
                    </m:bar>
                  </m:oMath>
                </a14:m>
                <a:r>
                  <a:rPr/>
                  <a:t> everywhere it appears as an outgoing BC (ODE IC, FEM Robin BC, field reconstruction, Airy BC). Backward-compatible: </a:t>
                </a:r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z</m:t>
                        </m:r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  <m:scr m:val="double-struck"/>
                      </m:rPr>
                      <m:t>R</m:t>
                    </m:r>
                  </m:oMath>
                </a14:m>
                <a:r>
                  <a:rPr/>
                  <a:t> for propagating waves.</a:t>
                </a:r>
                <a:br/>
                <a:r>
                  <a:rPr i="1"/>
                  <a:t>Subtlety:</a:t>
                </a:r>
                <a:r>
                  <a:rPr/>
                  <a:t> energy check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t>r</m:t>
                            </m:r>
                          </m:e>
                        </m: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does </a:t>
                </a:r>
                <a:r>
                  <a:rPr i="1"/>
                  <a:t>not</a:t>
                </a:r>
                <a:r>
                  <a:rPr/>
                  <a:t> catch this bug — only the field profile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∠</m:t>
                    </m:r>
                    <m:r>
                      <m:t>r</m:t>
                    </m:r>
                  </m:oMath>
                </a14:m>
                <a:r>
                  <a:rPr/>
                  <a:t> are corrupted.</a:t>
                </a:r>
              </a:p>
              <a:p>
                <a:pPr lvl="0" marL="0" indent="0">
                  <a:buNone/>
                </a:pPr>
                <a:r>
                  <a:rPr/>
                  <a:t>image</a:t>
                </a:r>
                <a:br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e</m:t>
                    </m:r>
                    <m:r>
                      <m:t> </m:t>
                    </m:r>
                    <m: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z</m:t>
                        </m:r>
                      </m:e>
                    </m:d>
                  </m:oMath>
                </a14:m>
                <a:r>
                  <a:rPr/>
                  <a:t> after fix: field decays for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δ</m:t>
                    </m:r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 b="1"/>
                  <a:t>Bug 2: TM instability at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br/>
                <a:r>
                  <a:rPr i="1"/>
                  <a:t>Root cause:</a:t>
                </a:r>
                <a:r>
                  <a:rPr/>
                  <a:t> drift term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d</m:t>
                        </m:r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/</m:t>
                        </m:r>
                        <m:r>
                          <m:t>d</m:t>
                        </m:r>
                        <m:r>
                          <m:t>z</m:t>
                        </m:r>
                      </m:e>
                    </m:d>
                  </m:oMath>
                </a14:m>
                <a:r>
                  <a:rPr/>
                  <a:t> diverges.</a:t>
                </a:r>
                <a:br/>
                <a:r>
                  <a:rPr i="1"/>
                  <a:t>Fix: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→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j</m:t>
                    </m:r>
                    <m:r>
                      <m:t>η</m:t>
                    </m:r>
                  </m:oMath>
                </a14:m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4</m:t>
                        </m:r>
                      </m:sup>
                    </m:sSup>
                  </m:oMath>
                </a14:m>
                <a:r>
                  <a:rPr/>
                  <a:t>) shifts pole off real axis. Energy residual converges to floor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∝</m:t>
                    </m:r>
                    <m:r>
                      <m:t>η</m:t>
                    </m:r>
                  </m:oMath>
                </a14:m>
                <a:r>
                  <a:rPr/>
                  <a:t>; no blow-up.</a:t>
                </a:r>
              </a:p>
              <a:p>
                <a:pPr lvl="0" marL="0" indent="0">
                  <a:buNone/>
                </a:pPr>
                <a:r>
                  <a:rPr/>
                  <a:t>Current Limitations and Future Work </a:t>
                </a:r>
                <a:r>
                  <a:rPr b="1"/>
                  <a:t>Validation asymmetry</a:t>
                </a:r>
              </a:p>
              <a:p>
                <a:pPr lvl="1"/>
                <a:r>
                  <a:rPr/>
                  <a:t>TE: fully characterised against Airy exact solution.</a:t>
                </a:r>
              </a:p>
              <a:p>
                <a:pPr lvl="1"/>
                <a:r>
                  <a:rPr/>
                  <a:t>TM: verified only by internal consistency (energy check, ODE–FEM agreement); no closed-form reference exists for general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z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 b="1"/>
                  <a:t>Open questions for TM near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1">
                  <a:buAutoNum type="arabicPeriod"/>
                </a:pPr>
                <a:r>
                  <a:rPr/>
                  <a:t>Optimal </a:t>
                </a:r>
                <a14:m>
                  <m:oMath xmlns:m="http://schemas.openxmlformats.org/officeDocument/2006/math">
                    <m:r>
                      <m:t>η</m:t>
                    </m:r>
                  </m:oMath>
                </a14:m>
                <a:r>
                  <a:rPr/>
                  <a:t>: trade-off between numerical stability and physical phase distortion.</a:t>
                </a:r>
              </a:p>
              <a:p>
                <a:pPr lvl="1">
                  <a:buAutoNum type="arabicPeriod"/>
                </a:pPr>
                <a:r>
                  <a:rPr/>
                  <a:t>Reformulation </a:t>
                </a:r>
                <a14:m>
                  <m:oMath xmlns:m="http://schemas.openxmlformats.org/officeDocument/2006/math"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 removes singularity analytically.</a:t>
                </a:r>
              </a:p>
              <a:p>
                <a:pPr lvl="1">
                  <a:buAutoNum type="arabicPeriod"/>
                </a:pPr>
                <a:r>
                  <a:rPr/>
                  <a:t>Turning-point asymptotics for the irregular singular point.</a:t>
                </a:r>
              </a:p>
              <a:p>
                <a:pPr lvl="0" marL="0" indent="0">
                  <a:buNone/>
                </a:pPr>
                <a:r>
                  <a:rPr b="1"/>
                  <a:t>Planned extensions</a:t>
                </a:r>
                <a:br/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1D Helmholtz EM Solver</dc:title>
  <dc:creator>APC 523 Final Project</dc:creator>
  <cp:keywords/>
  <dcterms:created xsi:type="dcterms:W3CDTF">2026-05-09T02:48:38Z</dcterms:created>
  <dcterms:modified xsi:type="dcterms:W3CDTF">2026-05-09T02:48:38Z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Design, Validation, and Applications</vt:lpwstr>
  </property>
</Properties>
</file>